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a03dd93b2e4903" /><Relationship Type="http://schemas.openxmlformats.org/officeDocument/2006/relationships/extended-properties" Target="/docProps/app.xml" Id="R4adb77f24f8643a6" /><Relationship Type="http://schemas.openxmlformats.org/officeDocument/2006/relationships/officeDocument" Target="/ppt/presentation.xml" Id="Rfb00de5ba7a94f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b88777d7874f87"/>
  </p:sldMasterIdLst>
  <p:notesMasterIdLst>
    <p:notesMasterId xmlns:r="http://schemas.openxmlformats.org/officeDocument/2006/relationships" r:id="R45d536480f534c4c"/>
  </p:notesMasterIdLst>
  <p:sldIdLst>
    <p:sldId xmlns:r="http://schemas.openxmlformats.org/officeDocument/2006/relationships" id="256" r:id="R9257e8e4d2fc42ff"/>
    <p:sldId xmlns:r="http://schemas.openxmlformats.org/officeDocument/2006/relationships" id="257" r:id="Ree108f8210c340f4"/>
    <p:sldId xmlns:r="http://schemas.openxmlformats.org/officeDocument/2006/relationships" id="258" r:id="Rf0a77d35e7504020"/>
    <p:sldId xmlns:r="http://schemas.openxmlformats.org/officeDocument/2006/relationships" id="259" r:id="Rdf803e1ec0a84618"/>
    <p:sldId xmlns:r="http://schemas.openxmlformats.org/officeDocument/2006/relationships" id="260" r:id="R33d56f2cafa24c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c9ae9c948d428d" /><Relationship Type="http://schemas.openxmlformats.org/officeDocument/2006/relationships/slideMaster" Target="/ppt/slideMasters/slideMaster1.xml" Id="R24b88777d7874f87" /><Relationship Type="http://schemas.openxmlformats.org/officeDocument/2006/relationships/notesMaster" Target="/ppt/notesMasters/notesMaster1.xml" Id="R45d536480f534c4c" /><Relationship Type="http://schemas.openxmlformats.org/officeDocument/2006/relationships/presProps" Target="/ppt/presProps.xml" Id="Re965f8da5f074b39" /><Relationship Type="http://schemas.openxmlformats.org/officeDocument/2006/relationships/tableStyles" Target="/ppt/tableStyles.xml" Id="Rc815b4a6e8ce4c7f" /><Relationship Type="http://schemas.openxmlformats.org/officeDocument/2006/relationships/slide" Target="/ppt/slides/slide1.xml" Id="R9257e8e4d2fc42ff" /><Relationship Type="http://schemas.openxmlformats.org/officeDocument/2006/relationships/slide" Target="/ppt/slides/slide2.xml" Id="Ree108f8210c340f4" /><Relationship Type="http://schemas.openxmlformats.org/officeDocument/2006/relationships/slide" Target="/ppt/slides/slide3.xml" Id="Rf0a77d35e7504020" /><Relationship Type="http://schemas.openxmlformats.org/officeDocument/2006/relationships/slide" Target="/ppt/slides/slide4.xml" Id="Rdf803e1ec0a84618" /><Relationship Type="http://schemas.openxmlformats.org/officeDocument/2006/relationships/slide" Target="/ppt/slides/slide5.xml" Id="R33d56f2cafa24c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76f63822e842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e78b9f617c45d8" /><Relationship Type="http://schemas.openxmlformats.org/officeDocument/2006/relationships/notesMaster" Target="/ppt/notesMasters/notesMaster1.xml" Id="Rb5b36fac890f47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9cffdca9024e26" /><Relationship Type="http://schemas.openxmlformats.org/officeDocument/2006/relationships/notesMaster" Target="/ppt/notesMasters/notesMaster1.xml" Id="Rd229d407c30342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6d7dd0a874cdc" /><Relationship Type="http://schemas.openxmlformats.org/officeDocument/2006/relationships/notesMaster" Target="/ppt/notesMasters/notesMaster1.xml" Id="Rb5f3e414fd4a4f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490ed41ad64e18" /><Relationship Type="http://schemas.openxmlformats.org/officeDocument/2006/relationships/notesMaster" Target="/ppt/notesMasters/notesMaster1.xml" Id="R0bc6adbae6914f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cd736f43ad451f" /><Relationship Type="http://schemas.openxmlformats.org/officeDocument/2006/relationships/notesMaster" Target="/ppt/notesMasters/notesMaster1.xml" Id="Re409c6b3db9d4c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opening required by the current user instruction. The concept slides that follow each contain six visible words/tokens. Intended reader: model/research reviewer familiar with 1/0 outcome notation, with the standalone reference supplied for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stipulated operation outcomes: 1 = improved, 0 = did not improve. Not every improved is true; every failed to improve is false. No causal or human-learning inference follows. The nonempty domain is exactly these two operations.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derivation: 012-difr-1.md; finite counterexample [1,0].</a:t>
            </a:r>
          </a:p>
          <a:p xmlns:a="http://schemas.openxmlformats.org/drawingml/2006/main">
            <a:r>
              <a:t>Design contrast: https://www.w3.org/WAI/WCAG22/Understanding/contrast-minimum.html</a:t>
            </a:r>
          </a:p>
          <a:p xmlns:a="http://schemas.openxmlformats.org/drawingml/2006/main">
            <a:r>
              <a:t>Non-color labels: https://www.w3.org/WAI/WCAG22/Understanding/use-of-color.html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question mark means an unobserved outcome, not a zero. Two complete inputs remain: [1,1] makes every true; [1,0] makes every false. Some is already true in both because the first result is observed positive. This is a finite logical specimen, not a probability distribution.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derivation: 013-difr-2.md.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Constructed representation comparison: A contains two cases and B contains all three required cases. For complete three-case coverage B wins. If the task requires only the shared two cases, A has fewer represented cases. The counts stay fixed; the criterion changes. This is not an observation about human comprehension.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constructed case: 023-op-1.md and consolidation-04.md.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research fields required by the current user instruction. They are an explicit exception to the six-word concept-slide constraint. Actual mind change: The current model built and inspected exact visual forms of three existing distinctions. Benefit: Local artifact construction and mappings only; no human learning effect observed. Verdict: KEEP within that construction scope. Organization: Concept slides plus standalone reference. Next attempts: Actual reader and transfer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aa50112c644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ebe8872ad490e" /><Relationship Type="http://schemas.openxmlformats.org/officeDocument/2006/relationships/slideLayout" Target="/ppt/slideLayouts/slideLayout1.xml" Id="R98b497156b4547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497156b4547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9f25f6ede4b90" /><Relationship Type="http://schemas.openxmlformats.org/officeDocument/2006/relationships/notesSlide" Target="/ppt/notesSlides/notesSlide1.xml" Id="R38bd0b7aad614d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b07035bc649c0" /><Relationship Type="http://schemas.openxmlformats.org/officeDocument/2006/relationships/notesSlide" Target="/ppt/notesSlides/notesSlide2.xml" Id="Ra3e38d3581e149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7a3a555cc4795" /><Relationship Type="http://schemas.openxmlformats.org/officeDocument/2006/relationships/notesSlide" Target="/ppt/notesSlides/notesSlide3.xml" Id="R59544a77abdb49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f312257fa4586" /><Relationship Type="http://schemas.openxmlformats.org/officeDocument/2006/relationships/notesSlide" Target="/ppt/notesSlides/notesSlide4.xml" Id="R6e69446ece234d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d458ed63445ad" /><Relationship Type="http://schemas.openxmlformats.org/officeDocument/2006/relationships/notesSlide" Target="/ppt/notesSlides/notesSlide5.xml" Id="Rd1f0d4eb36cc4b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tended mind change:">
            <a:extLst xmlns:a="http://schemas.openxmlformats.org/drawingml/2006/main">
              <a:ext uri="{FF2B5EF4-FFF2-40B4-BE49-F238E27FC236}">
                <a16:creationId xmlns:a16="http://schemas.microsoft.com/office/drawing/2014/main" id="{FB3C0CB5-FA72-4DBA-A642-2341D80E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Intended mind change:</a:t>
            </a:r>
          </a:p>
        </p:txBody>
      </p:sp>
      <p:sp>
        <p:nvSpPr>
          <p:cNvPr id="2" name="Keep claims inside their evidence.">
            <a:extLst xmlns:a="http://schemas.openxmlformats.org/drawingml/2006/main">
              <a:ext uri="{FF2B5EF4-FFF2-40B4-BE49-F238E27FC236}">
                <a16:creationId xmlns:a16="http://schemas.microsoft.com/office/drawing/2014/main" id="{57584746-6DE5-4634-A414-9DE2DC46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A1A1A"/>
                </a:solidFill>
              </a:defRPr>
            </a:pPr>
            <a:r>
              <a:rPr sz="4200" b="1">
                <a:solidFill>
                  <a:srgbClr val="1A1A1A"/>
                </a:solidFill>
              </a:rPr>
              <a:t>Keep claims inside their evidence.</a:t>
            </a:r>
          </a:p>
        </p:txBody>
      </p:sp>
      <p:sp>
        <p:nvSpPr>
          <p:cNvPr id="3" name="Exceptions · unknowns · changed criteria">
            <a:extLst xmlns:a="http://schemas.openxmlformats.org/drawingml/2006/main">
              <a:ext uri="{FF2B5EF4-FFF2-40B4-BE49-F238E27FC236}">
                <a16:creationId xmlns:a16="http://schemas.microsoft.com/office/drawing/2014/main" id="{713B1FCC-FC23-41D3-B911-0AC5BC6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A1A1A"/>
                </a:solidFill>
              </a:defRPr>
            </a:pPr>
            <a:r>
              <a:rPr sz="3000" b="0">
                <a:solidFill>
                  <a:srgbClr val="1A1A1A"/>
                </a:solidFill>
              </a:rPr>
              <a:t>Exceptions · unknowns · changed criteria</a:t>
            </a:r>
          </a:p>
        </p:txBody>
      </p:sp>
    </p:spTree>
    <p:extLst>
      <p:ext uri="{BB962C8B-B14F-4D97-AF65-F5344CB8AC3E}">
        <p14:creationId xmlns:p14="http://schemas.microsoft.com/office/powerpoint/2010/main" val="660176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unterexamples refute universal claims.">
            <a:extLst xmlns:a="http://schemas.openxmlformats.org/drawingml/2006/main">
              <a:ext uri="{FF2B5EF4-FFF2-40B4-BE49-F238E27FC236}">
                <a16:creationId xmlns:a16="http://schemas.microsoft.com/office/drawing/2014/main" id="{4D0BC595-C2BF-48B7-B5B1-02A77522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A1A1A"/>
                </a:solidFill>
              </a:defRPr>
            </a:pPr>
            <a:r>
              <a:rPr sz="4200" b="1">
                <a:solidFill>
                  <a:srgbClr val="1A1A1A"/>
                </a:solidFill>
              </a:rPr>
              <a:t>Counterexamples refute universal claims.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9E1C0-41B3-4D72-BC4A-B2B6D07F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38100">
            <a:solidFill>
              <a:srgbClr val="1A1A1A"/>
            </a:solidFill>
          </a:ln>
        </p:spPr>
      </p:sp>
      <p:sp>
        <p:nvSpPr>
          <p:cNvPr id="3" name="1">
            <a:extLst xmlns:a="http://schemas.openxmlformats.org/drawingml/2006/main">
              <a:ext uri="{FF2B5EF4-FFF2-40B4-BE49-F238E27FC236}">
                <a16:creationId xmlns:a16="http://schemas.microsoft.com/office/drawing/2014/main" id="{C4B57CDC-DDEE-4E96-AE6E-0839A216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86100"/>
            <a:ext cx="1219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A7C52-B811-4B4E-B911-36BA58D5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38100">
            <a:solidFill>
              <a:srgbClr val="1A1A1A"/>
            </a:solidFill>
          </a:ln>
        </p:spPr>
      </p:sp>
      <p:sp>
        <p:nvSpPr>
          <p:cNvPr id="5" name="0">
            <a:extLst xmlns:a="http://schemas.openxmlformats.org/drawingml/2006/main">
              <a:ext uri="{FF2B5EF4-FFF2-40B4-BE49-F238E27FC236}">
                <a16:creationId xmlns:a16="http://schemas.microsoft.com/office/drawing/2014/main" id="{2E8AFDF0-6541-4986-B69C-7CD109B3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86100"/>
            <a:ext cx="1219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99965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Unknown keeps alternatives.">
            <a:extLst xmlns:a="http://schemas.openxmlformats.org/drawingml/2006/main">
              <a:ext uri="{FF2B5EF4-FFF2-40B4-BE49-F238E27FC236}">
                <a16:creationId xmlns:a16="http://schemas.microsoft.com/office/drawing/2014/main" id="{68C68505-9193-4D77-9E98-551AD1AE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Unknown keeps alternatives.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1B07C-7C40-4FA1-B452-F7513424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0520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5A8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25199-73BC-4E74-945E-B7FFCDCA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956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5A8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2956C-14AF-45A9-99F9-7E2E2937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0520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5A8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D0D94-64AB-479A-9909-573AA949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0520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5A80"/>
            </a:solidFill>
          </a:ln>
        </p:spPr>
      </p:sp>
      <p:sp>
        <p:nvSpPr>
          <p:cNvPr id="6" name="[1,?]">
            <a:extLst xmlns:a="http://schemas.openxmlformats.org/drawingml/2006/main">
              <a:ext uri="{FF2B5EF4-FFF2-40B4-BE49-F238E27FC236}">
                <a16:creationId xmlns:a16="http://schemas.microsoft.com/office/drawing/2014/main" id="{7C411FE6-39BC-41C8-9102-91FBEBD0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335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[1,?]</a:t>
            </a:r>
          </a:p>
        </p:txBody>
      </p:sp>
      <p:sp>
        <p:nvSpPr>
          <p:cNvPr id="7" name="[1,1]">
            <a:extLst xmlns:a="http://schemas.openxmlformats.org/drawingml/2006/main">
              <a:ext uri="{FF2B5EF4-FFF2-40B4-BE49-F238E27FC236}">
                <a16:creationId xmlns:a16="http://schemas.microsoft.com/office/drawing/2014/main" id="{17EB93C7-102C-4DA2-AC84-1D751FB9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72000"/>
            <a:ext cx="243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[1,1]</a:t>
            </a:r>
          </a:p>
        </p:txBody>
      </p:sp>
      <p:sp>
        <p:nvSpPr>
          <p:cNvPr id="8" name="[1,0]">
            <a:extLst xmlns:a="http://schemas.openxmlformats.org/drawingml/2006/main">
              <a:ext uri="{FF2B5EF4-FFF2-40B4-BE49-F238E27FC236}">
                <a16:creationId xmlns:a16="http://schemas.microsoft.com/office/drawing/2014/main" id="{578698FA-629C-407A-98B1-0E2D4DDB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[1,0]</a:t>
            </a:r>
          </a:p>
        </p:txBody>
      </p:sp>
    </p:spTree>
    <p:extLst>
      <p:ext uri="{BB962C8B-B14F-4D97-AF65-F5344CB8AC3E}">
        <p14:creationId xmlns:p14="http://schemas.microsoft.com/office/powerpoint/2010/main" val="4554290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ame observations.">
            <a:extLst xmlns:a="http://schemas.openxmlformats.org/drawingml/2006/main">
              <a:ext uri="{FF2B5EF4-FFF2-40B4-BE49-F238E27FC236}">
                <a16:creationId xmlns:a16="http://schemas.microsoft.com/office/drawing/2014/main" id="{02CD29BE-0C70-4A57-8DD2-5E4AFCA0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Same observations.</a:t>
            </a:r>
          </a:p>
        </p:txBody>
      </p:sp>
      <p:sp>
        <p:nvSpPr>
          <p:cNvPr id="2" name="Coverage: B.">
            <a:extLst xmlns:a="http://schemas.openxmlformats.org/drawingml/2006/main">
              <a:ext uri="{FF2B5EF4-FFF2-40B4-BE49-F238E27FC236}">
                <a16:creationId xmlns:a16="http://schemas.microsoft.com/office/drawing/2014/main" id="{27327F19-3A1A-4AC6-BC75-AA60AD74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Coverage: B.</a:t>
            </a:r>
          </a:p>
        </p:txBody>
      </p:sp>
      <p:sp>
        <p:nvSpPr>
          <p:cNvPr id="3" name="Brevity: A.">
            <a:extLst xmlns:a="http://schemas.openxmlformats.org/drawingml/2006/main">
              <a:ext uri="{FF2B5EF4-FFF2-40B4-BE49-F238E27FC236}">
                <a16:creationId xmlns:a16="http://schemas.microsoft.com/office/drawing/2014/main" id="{0654B9A1-2A13-4A96-B6C7-65E6ED21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Brevity: A.</a:t>
            </a:r>
          </a:p>
        </p:txBody>
      </p:sp>
    </p:spTree>
    <p:extLst>
      <p:ext uri="{BB962C8B-B14F-4D97-AF65-F5344CB8AC3E}">
        <p14:creationId xmlns:p14="http://schemas.microsoft.com/office/powerpoint/2010/main" val="66414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tual mind change:">
            <a:extLst xmlns:a="http://schemas.openxmlformats.org/drawingml/2006/main">
              <a:ext uri="{FF2B5EF4-FFF2-40B4-BE49-F238E27FC236}">
                <a16:creationId xmlns:a16="http://schemas.microsoft.com/office/drawing/2014/main" id="{02902082-C03D-4D42-946E-EED8AAFA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A1A1A"/>
                </a:solidFill>
              </a:defRPr>
            </a:pPr>
            <a:r>
              <a:rPr sz="4800" b="1">
                <a:solidFill>
                  <a:srgbClr val="1A1A1A"/>
                </a:solidFill>
              </a:rPr>
              <a:t>Actual mind change:</a:t>
            </a:r>
          </a:p>
        </p:txBody>
      </p:sp>
      <p:sp>
        <p:nvSpPr>
          <p:cNvPr id="2" name="Three distinctions now have visual forms.">
            <a:extLst xmlns:a="http://schemas.openxmlformats.org/drawingml/2006/main">
              <a:ext uri="{FF2B5EF4-FFF2-40B4-BE49-F238E27FC236}">
                <a16:creationId xmlns:a16="http://schemas.microsoft.com/office/drawing/2014/main" id="{D2093BB3-E201-455F-B876-D9F95DA0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A1A1A"/>
                </a:solidFill>
              </a:defRPr>
            </a:pPr>
            <a:r>
              <a:rPr sz="3000" b="1">
                <a:solidFill>
                  <a:srgbClr val="1A1A1A"/>
                </a:solidFill>
              </a:rPr>
              <a:t>Three distinctions now have visual forms.</a:t>
            </a:r>
          </a:p>
        </p:txBody>
      </p:sp>
      <p:sp>
        <p:nvSpPr>
          <p:cNvPr id="3" name="Benefit: Local mappings preserved; human learning untested.">
            <a:extLst xmlns:a="http://schemas.openxmlformats.org/drawingml/2006/main">
              <a:ext uri="{FF2B5EF4-FFF2-40B4-BE49-F238E27FC236}">
                <a16:creationId xmlns:a16="http://schemas.microsoft.com/office/drawing/2014/main" id="{7DCF616C-5306-4F70-8EEF-0A9B8D87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A1A1A"/>
                </a:solidFill>
              </a:defRPr>
            </a:pPr>
            <a:r>
              <a:rPr sz="2400" b="0">
                <a:solidFill>
                  <a:srgbClr val="1A1A1A"/>
                </a:solidFill>
              </a:rPr>
              <a:t>Benefit: Local mappings preserved; human learning untested.</a:t>
            </a:r>
          </a:p>
        </p:txBody>
      </p:sp>
      <p:sp>
        <p:nvSpPr>
          <p:cNvPr id="4" name="Verdict: KEEP for local artifact construction.">
            <a:extLst xmlns:a="http://schemas.openxmlformats.org/drawingml/2006/main">
              <a:ext uri="{FF2B5EF4-FFF2-40B4-BE49-F238E27FC236}">
                <a16:creationId xmlns:a16="http://schemas.microsoft.com/office/drawing/2014/main" id="{90BE93D3-F761-4622-A19E-F948CD61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A1A1A"/>
                </a:solidFill>
              </a:defRPr>
            </a:pPr>
            <a:r>
              <a:rPr sz="2400" b="0">
                <a:solidFill>
                  <a:srgbClr val="1A1A1A"/>
                </a:solidFill>
              </a:rPr>
              <a:t>Verdict: KEEP for local artifact construction.</a:t>
            </a:r>
          </a:p>
        </p:txBody>
      </p:sp>
      <p:sp>
        <p:nvSpPr>
          <p:cNvPr id="5" name="Organization: Visuals plus a standalone reference.">
            <a:extLst xmlns:a="http://schemas.openxmlformats.org/drawingml/2006/main">
              <a:ext uri="{FF2B5EF4-FFF2-40B4-BE49-F238E27FC236}">
                <a16:creationId xmlns:a16="http://schemas.microsoft.com/office/drawing/2014/main" id="{FF7E0A7C-77D1-4E44-A764-C2977229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A1A1A"/>
                </a:solidFill>
              </a:defRPr>
            </a:pPr>
            <a:r>
              <a:rPr sz="2400" b="0">
                <a:solidFill>
                  <a:srgbClr val="1A1A1A"/>
                </a:solidFill>
              </a:rPr>
              <a:t>Organization: Visuals plus a standalone reference.</a:t>
            </a:r>
          </a:p>
        </p:txBody>
      </p:sp>
      <p:sp>
        <p:nvSpPr>
          <p:cNvPr id="6" name="Next attempts: Reader and transfer tests.">
            <a:extLst xmlns:a="http://schemas.openxmlformats.org/drawingml/2006/main">
              <a:ext uri="{FF2B5EF4-FFF2-40B4-BE49-F238E27FC236}">
                <a16:creationId xmlns:a16="http://schemas.microsoft.com/office/drawing/2014/main" id="{B8D7F46A-509A-46E6-905E-FD3D716E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A1A1A"/>
                </a:solidFill>
              </a:defRPr>
            </a:pPr>
            <a:r>
              <a:rPr sz="2400" b="0">
                <a:solidFill>
                  <a:srgbClr val="1A1A1A"/>
                </a:solidFill>
              </a:rPr>
              <a:t>Next attempts: Reader and transfer tests.</a:t>
            </a:r>
          </a:p>
        </p:txBody>
      </p:sp>
    </p:spTree>
    <p:extLst>
      <p:ext uri="{BB962C8B-B14F-4D97-AF65-F5344CB8AC3E}">
        <p14:creationId xmlns:p14="http://schemas.microsoft.com/office/powerpoint/2010/main" val="630375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2026-09-08T05:06:35.5810000Z</dcterms:created>
  <dcterms:modified xsi:type="dcterms:W3CDTF">2026-09-08T05:06:35.5810000Z</dcterms:modified>
</coreProperties>
</file>